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ساعت 1</c:v>
                </c:pt>
                <c:pt idx="1">
                  <c:v>ساعت 2</c:v>
                </c:pt>
                <c:pt idx="2">
                  <c:v>ساعت 3</c:v>
                </c:pt>
                <c:pt idx="3">
                  <c:v>ساعت 4</c:v>
                </c:pt>
                <c:pt idx="4">
                  <c:v>ساعت 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</c:v>
                </c:pt>
                <c:pt idx="1">
                  <c:v>0.25</c:v>
                </c:pt>
                <c:pt idx="2">
                  <c:v>0.3</c:v>
                </c:pt>
                <c:pt idx="3">
                  <c:v>0.28000000000000003</c:v>
                </c:pt>
                <c:pt idx="4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65-40CB-891B-F62EDD1F4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9020224"/>
        <c:axId val="1949022144"/>
      </c:lineChart>
      <c:catAx>
        <c:axId val="194902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B Titr" panose="00000700000000000000" pitchFamily="2" charset="-78"/>
              </a:defRPr>
            </a:pPr>
            <a:endParaRPr lang="fa-IR"/>
          </a:p>
        </c:txPr>
        <c:crossAx val="1949022144"/>
        <c:crosses val="autoZero"/>
        <c:auto val="1"/>
        <c:lblAlgn val="ctr"/>
        <c:lblOffset val="100"/>
        <c:noMultiLvlLbl val="0"/>
      </c:catAx>
      <c:valAx>
        <c:axId val="194902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a-IR"/>
          </a:p>
        </c:txPr>
        <c:crossAx val="194902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a-I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9689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9596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9617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7064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011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1150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2948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1773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6233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4297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7523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C1BA5-40C3-4E1C-ADFD-BB91D93211F0}" type="datetimeFigureOut">
              <a:rPr lang="fa-IR" smtClean="0"/>
              <a:t>21/11/1447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E16D2-7827-4A0B-A56A-7010426394F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4077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2562497" y="273101"/>
            <a:ext cx="7067006" cy="7864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txBody>
          <a:bodyPr wrap="square" rtlCol="1">
            <a:noAutofit/>
          </a:bodyPr>
          <a:lstStyle/>
          <a:p>
            <a:pPr algn="ctr"/>
            <a:r>
              <a:rPr lang="fa-IR" sz="3600" dirty="0">
                <a:solidFill>
                  <a:srgbClr val="002060"/>
                </a:solidFill>
                <a:cs typeface="B Titr" panose="00000700000000000000" pitchFamily="2" charset="-78"/>
              </a:rPr>
              <a:t>معماری اصلی </a:t>
            </a:r>
            <a:r>
              <a:rPr lang="fa-IR" sz="3600" dirty="0">
                <a:solidFill>
                  <a:srgbClr val="C00000"/>
                </a:solidFill>
                <a:cs typeface="B Titr" panose="00000700000000000000" pitchFamily="2" charset="-78"/>
              </a:rPr>
              <a:t>نرم افزار</a:t>
            </a:r>
          </a:p>
        </p:txBody>
      </p:sp>
      <p:sp>
        <p:nvSpPr>
          <p:cNvPr id="9" name="Freeform 8"/>
          <p:cNvSpPr/>
          <p:nvPr/>
        </p:nvSpPr>
        <p:spPr>
          <a:xfrm>
            <a:off x="357052" y="1140823"/>
            <a:ext cx="11477897" cy="1312396"/>
          </a:xfrm>
          <a:custGeom>
            <a:avLst/>
            <a:gdLst>
              <a:gd name="connsiteX0" fmla="*/ 0 w 8128000"/>
              <a:gd name="connsiteY0" fmla="*/ 161463 h 968759"/>
              <a:gd name="connsiteX1" fmla="*/ 161463 w 8128000"/>
              <a:gd name="connsiteY1" fmla="*/ 0 h 968759"/>
              <a:gd name="connsiteX2" fmla="*/ 7966537 w 8128000"/>
              <a:gd name="connsiteY2" fmla="*/ 0 h 968759"/>
              <a:gd name="connsiteX3" fmla="*/ 8128000 w 8128000"/>
              <a:gd name="connsiteY3" fmla="*/ 161463 h 968759"/>
              <a:gd name="connsiteX4" fmla="*/ 8128000 w 8128000"/>
              <a:gd name="connsiteY4" fmla="*/ 807296 h 968759"/>
              <a:gd name="connsiteX5" fmla="*/ 7966537 w 8128000"/>
              <a:gd name="connsiteY5" fmla="*/ 968759 h 968759"/>
              <a:gd name="connsiteX6" fmla="*/ 161463 w 8128000"/>
              <a:gd name="connsiteY6" fmla="*/ 968759 h 968759"/>
              <a:gd name="connsiteX7" fmla="*/ 0 w 8128000"/>
              <a:gd name="connsiteY7" fmla="*/ 807296 h 968759"/>
              <a:gd name="connsiteX8" fmla="*/ 0 w 8128000"/>
              <a:gd name="connsiteY8" fmla="*/ 161463 h 968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968759">
                <a:moveTo>
                  <a:pt x="0" y="161463"/>
                </a:moveTo>
                <a:cubicBezTo>
                  <a:pt x="0" y="72289"/>
                  <a:pt x="72289" y="0"/>
                  <a:pt x="161463" y="0"/>
                </a:cubicBezTo>
                <a:lnTo>
                  <a:pt x="7966537" y="0"/>
                </a:lnTo>
                <a:cubicBezTo>
                  <a:pt x="8055711" y="0"/>
                  <a:pt x="8128000" y="72289"/>
                  <a:pt x="8128000" y="161463"/>
                </a:cubicBezTo>
                <a:lnTo>
                  <a:pt x="8128000" y="807296"/>
                </a:lnTo>
                <a:cubicBezTo>
                  <a:pt x="8128000" y="896470"/>
                  <a:pt x="8055711" y="968759"/>
                  <a:pt x="7966537" y="968759"/>
                </a:cubicBezTo>
                <a:lnTo>
                  <a:pt x="161463" y="968759"/>
                </a:lnTo>
                <a:cubicBezTo>
                  <a:pt x="72289" y="968759"/>
                  <a:pt x="0" y="896470"/>
                  <a:pt x="0" y="807296"/>
                </a:cubicBezTo>
                <a:lnTo>
                  <a:pt x="0" y="161463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5871" tIns="115871" rIns="115871" bIns="115871" numCol="1" spcCol="1270" anchor="ctr" anchorCtr="0">
            <a:noAutofit/>
          </a:bodyPr>
          <a:lstStyle/>
          <a:p>
            <a:pPr lvl="0" algn="just" defTabSz="800100" rtl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پاورپوینت معمولاً بر پایه‌ی </a:t>
            </a:r>
            <a:r>
              <a:rPr lang="fa-IR" sz="2000" b="1" kern="1200" dirty="0">
                <a:solidFill>
                  <a:srgbClr val="002060"/>
                </a:solidFill>
                <a:cs typeface="B Titr" panose="00000700000000000000" pitchFamily="2" charset="-78"/>
              </a:rPr>
              <a:t>معماری لایه‌ای</a:t>
            </a: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 طراحی شده است؛ یعنی بخش </a:t>
            </a:r>
            <a:r>
              <a:rPr lang="fa-IR" sz="2000" b="1" kern="1200" dirty="0">
                <a:solidFill>
                  <a:srgbClr val="002060"/>
                </a:solidFill>
                <a:cs typeface="B Titr" panose="00000700000000000000" pitchFamily="2" charset="-78"/>
              </a:rPr>
              <a:t>رابط کاربری</a:t>
            </a: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 برای ساخت و ویرایش اسلاید، از بخش </a:t>
            </a:r>
            <a:r>
              <a:rPr lang="fa-IR" sz="2000" b="1" kern="1200" dirty="0">
                <a:solidFill>
                  <a:srgbClr val="002060"/>
                </a:solidFill>
                <a:cs typeface="B Titr" panose="00000700000000000000" pitchFamily="2" charset="-78"/>
              </a:rPr>
              <a:t>منطق برنامه</a:t>
            </a: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 مثل مدیریت اسلایدها، انیمیشن‌ها و قالب‌ها جداست.</a:t>
            </a:r>
            <a:endParaRPr lang="en-US" sz="2000" kern="1200" dirty="0">
              <a:solidFill>
                <a:srgbClr val="002060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989542" y="2522665"/>
            <a:ext cx="7845408" cy="1290441"/>
          </a:xfrm>
          <a:custGeom>
            <a:avLst/>
            <a:gdLst>
              <a:gd name="connsiteX0" fmla="*/ 0 w 8128000"/>
              <a:gd name="connsiteY0" fmla="*/ 161463 h 968759"/>
              <a:gd name="connsiteX1" fmla="*/ 161463 w 8128000"/>
              <a:gd name="connsiteY1" fmla="*/ 0 h 968759"/>
              <a:gd name="connsiteX2" fmla="*/ 7966537 w 8128000"/>
              <a:gd name="connsiteY2" fmla="*/ 0 h 968759"/>
              <a:gd name="connsiteX3" fmla="*/ 8128000 w 8128000"/>
              <a:gd name="connsiteY3" fmla="*/ 161463 h 968759"/>
              <a:gd name="connsiteX4" fmla="*/ 8128000 w 8128000"/>
              <a:gd name="connsiteY4" fmla="*/ 807296 h 968759"/>
              <a:gd name="connsiteX5" fmla="*/ 7966537 w 8128000"/>
              <a:gd name="connsiteY5" fmla="*/ 968759 h 968759"/>
              <a:gd name="connsiteX6" fmla="*/ 161463 w 8128000"/>
              <a:gd name="connsiteY6" fmla="*/ 968759 h 968759"/>
              <a:gd name="connsiteX7" fmla="*/ 0 w 8128000"/>
              <a:gd name="connsiteY7" fmla="*/ 807296 h 968759"/>
              <a:gd name="connsiteX8" fmla="*/ 0 w 8128000"/>
              <a:gd name="connsiteY8" fmla="*/ 161463 h 968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968759">
                <a:moveTo>
                  <a:pt x="0" y="161463"/>
                </a:moveTo>
                <a:cubicBezTo>
                  <a:pt x="0" y="72289"/>
                  <a:pt x="72289" y="0"/>
                  <a:pt x="161463" y="0"/>
                </a:cubicBezTo>
                <a:lnTo>
                  <a:pt x="7966537" y="0"/>
                </a:lnTo>
                <a:cubicBezTo>
                  <a:pt x="8055711" y="0"/>
                  <a:pt x="8128000" y="72289"/>
                  <a:pt x="8128000" y="161463"/>
                </a:cubicBezTo>
                <a:lnTo>
                  <a:pt x="8128000" y="807296"/>
                </a:lnTo>
                <a:cubicBezTo>
                  <a:pt x="8128000" y="896470"/>
                  <a:pt x="8055711" y="968759"/>
                  <a:pt x="7966537" y="968759"/>
                </a:cubicBezTo>
                <a:lnTo>
                  <a:pt x="161463" y="968759"/>
                </a:lnTo>
                <a:cubicBezTo>
                  <a:pt x="72289" y="968759"/>
                  <a:pt x="0" y="896470"/>
                  <a:pt x="0" y="807296"/>
                </a:cubicBezTo>
                <a:lnTo>
                  <a:pt x="0" y="161463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451115"/>
              <a:satOff val="-3409"/>
              <a:lumOff val="-1307"/>
              <a:alphaOff val="0"/>
            </a:schemeClr>
          </a:fillRef>
          <a:effectRef idx="0">
            <a:schemeClr val="accent5">
              <a:hueOff val="-2451115"/>
              <a:satOff val="-3409"/>
              <a:lumOff val="-130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5871" tIns="115871" rIns="115871" bIns="115871" numCol="1" spcCol="1270" anchor="ctr" anchorCtr="0">
            <a:noAutofit/>
          </a:bodyPr>
          <a:lstStyle/>
          <a:p>
            <a:pPr lvl="0" algn="just" defTabSz="800100" rtl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fa-IR" sz="2000" kern="1200">
                <a:solidFill>
                  <a:srgbClr val="002060"/>
                </a:solidFill>
                <a:cs typeface="B Titr" panose="00000700000000000000" pitchFamily="2" charset="-78"/>
              </a:rPr>
              <a:t>در لایه‌ی پایین‌تر، </a:t>
            </a:r>
            <a:r>
              <a:rPr lang="fa-IR" sz="2000" b="1" kern="1200">
                <a:solidFill>
                  <a:srgbClr val="002060"/>
                </a:solidFill>
                <a:cs typeface="B Titr" panose="00000700000000000000" pitchFamily="2" charset="-78"/>
              </a:rPr>
              <a:t>موتور پردازش و رندر</a:t>
            </a:r>
            <a:r>
              <a:rPr lang="fa-IR" sz="2000" kern="1200">
                <a:solidFill>
                  <a:srgbClr val="002060"/>
                </a:solidFill>
                <a:cs typeface="B Titr" panose="00000700000000000000" pitchFamily="2" charset="-78"/>
              </a:rPr>
              <a:t> وظیفه‌ی نمایش عناصر گرافیکی، متن، تصویر و ترنزیشن‌ها را بر عهده دارد.</a:t>
            </a:r>
            <a:endParaRPr lang="fa-IR" sz="2000" kern="1200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989542" y="3882552"/>
            <a:ext cx="7845408" cy="1290441"/>
          </a:xfrm>
          <a:custGeom>
            <a:avLst/>
            <a:gdLst>
              <a:gd name="connsiteX0" fmla="*/ 0 w 8128000"/>
              <a:gd name="connsiteY0" fmla="*/ 161463 h 968759"/>
              <a:gd name="connsiteX1" fmla="*/ 161463 w 8128000"/>
              <a:gd name="connsiteY1" fmla="*/ 0 h 968759"/>
              <a:gd name="connsiteX2" fmla="*/ 7966537 w 8128000"/>
              <a:gd name="connsiteY2" fmla="*/ 0 h 968759"/>
              <a:gd name="connsiteX3" fmla="*/ 8128000 w 8128000"/>
              <a:gd name="connsiteY3" fmla="*/ 161463 h 968759"/>
              <a:gd name="connsiteX4" fmla="*/ 8128000 w 8128000"/>
              <a:gd name="connsiteY4" fmla="*/ 807296 h 968759"/>
              <a:gd name="connsiteX5" fmla="*/ 7966537 w 8128000"/>
              <a:gd name="connsiteY5" fmla="*/ 968759 h 968759"/>
              <a:gd name="connsiteX6" fmla="*/ 161463 w 8128000"/>
              <a:gd name="connsiteY6" fmla="*/ 968759 h 968759"/>
              <a:gd name="connsiteX7" fmla="*/ 0 w 8128000"/>
              <a:gd name="connsiteY7" fmla="*/ 807296 h 968759"/>
              <a:gd name="connsiteX8" fmla="*/ 0 w 8128000"/>
              <a:gd name="connsiteY8" fmla="*/ 161463 h 968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968759">
                <a:moveTo>
                  <a:pt x="0" y="161463"/>
                </a:moveTo>
                <a:cubicBezTo>
                  <a:pt x="0" y="72289"/>
                  <a:pt x="72289" y="0"/>
                  <a:pt x="161463" y="0"/>
                </a:cubicBezTo>
                <a:lnTo>
                  <a:pt x="7966537" y="0"/>
                </a:lnTo>
                <a:cubicBezTo>
                  <a:pt x="8055711" y="0"/>
                  <a:pt x="8128000" y="72289"/>
                  <a:pt x="8128000" y="161463"/>
                </a:cubicBezTo>
                <a:lnTo>
                  <a:pt x="8128000" y="807296"/>
                </a:lnTo>
                <a:cubicBezTo>
                  <a:pt x="8128000" y="896470"/>
                  <a:pt x="8055711" y="968759"/>
                  <a:pt x="7966537" y="968759"/>
                </a:cubicBezTo>
                <a:lnTo>
                  <a:pt x="161463" y="968759"/>
                </a:lnTo>
                <a:cubicBezTo>
                  <a:pt x="72289" y="968759"/>
                  <a:pt x="0" y="896470"/>
                  <a:pt x="0" y="807296"/>
                </a:cubicBezTo>
                <a:lnTo>
                  <a:pt x="0" y="16146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4902230"/>
              <a:satOff val="-6819"/>
              <a:lumOff val="-2615"/>
              <a:alphaOff val="0"/>
            </a:schemeClr>
          </a:fillRef>
          <a:effectRef idx="0">
            <a:schemeClr val="accent5">
              <a:hueOff val="-4902230"/>
              <a:satOff val="-6819"/>
              <a:lumOff val="-26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5871" tIns="115871" rIns="115871" bIns="115871" numCol="1" spcCol="1270" anchor="ctr" anchorCtr="0">
            <a:noAutofit/>
          </a:bodyPr>
          <a:lstStyle/>
          <a:p>
            <a:pPr lvl="0" algn="just" defTabSz="800100" rtl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همچنین یک </a:t>
            </a:r>
            <a:r>
              <a:rPr lang="fa-IR" sz="2000" b="1" kern="1200" dirty="0">
                <a:solidFill>
                  <a:srgbClr val="002060"/>
                </a:solidFill>
                <a:cs typeface="B Titr" panose="00000700000000000000" pitchFamily="2" charset="-78"/>
              </a:rPr>
              <a:t>لایه‌ی ذخیره‌سازی و فایل</a:t>
            </a: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 وجود دارد که فایل‌های ارائه را در قالب‌هایی مثل </a:t>
            </a:r>
            <a:r>
              <a:rPr lang="fa-IR" sz="2000" b="1" kern="1200" dirty="0">
                <a:solidFill>
                  <a:srgbClr val="002060"/>
                </a:solidFill>
                <a:cs typeface="B Titr" panose="00000700000000000000" pitchFamily="2" charset="-78"/>
              </a:rPr>
              <a:t>PPTX</a:t>
            </a: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 ذخیره و بازیابی می‌کند.</a:t>
            </a:r>
          </a:p>
        </p:txBody>
      </p:sp>
      <p:sp>
        <p:nvSpPr>
          <p:cNvPr id="12" name="Freeform 11"/>
          <p:cNvSpPr/>
          <p:nvPr/>
        </p:nvSpPr>
        <p:spPr>
          <a:xfrm>
            <a:off x="3989542" y="5242439"/>
            <a:ext cx="7845408" cy="1290441"/>
          </a:xfrm>
          <a:custGeom>
            <a:avLst/>
            <a:gdLst>
              <a:gd name="connsiteX0" fmla="*/ 0 w 8128000"/>
              <a:gd name="connsiteY0" fmla="*/ 161463 h 968759"/>
              <a:gd name="connsiteX1" fmla="*/ 161463 w 8128000"/>
              <a:gd name="connsiteY1" fmla="*/ 0 h 968759"/>
              <a:gd name="connsiteX2" fmla="*/ 7966537 w 8128000"/>
              <a:gd name="connsiteY2" fmla="*/ 0 h 968759"/>
              <a:gd name="connsiteX3" fmla="*/ 8128000 w 8128000"/>
              <a:gd name="connsiteY3" fmla="*/ 161463 h 968759"/>
              <a:gd name="connsiteX4" fmla="*/ 8128000 w 8128000"/>
              <a:gd name="connsiteY4" fmla="*/ 807296 h 968759"/>
              <a:gd name="connsiteX5" fmla="*/ 7966537 w 8128000"/>
              <a:gd name="connsiteY5" fmla="*/ 968759 h 968759"/>
              <a:gd name="connsiteX6" fmla="*/ 161463 w 8128000"/>
              <a:gd name="connsiteY6" fmla="*/ 968759 h 968759"/>
              <a:gd name="connsiteX7" fmla="*/ 0 w 8128000"/>
              <a:gd name="connsiteY7" fmla="*/ 807296 h 968759"/>
              <a:gd name="connsiteX8" fmla="*/ 0 w 8128000"/>
              <a:gd name="connsiteY8" fmla="*/ 161463 h 968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968759">
                <a:moveTo>
                  <a:pt x="0" y="161463"/>
                </a:moveTo>
                <a:cubicBezTo>
                  <a:pt x="0" y="72289"/>
                  <a:pt x="72289" y="0"/>
                  <a:pt x="161463" y="0"/>
                </a:cubicBezTo>
                <a:lnTo>
                  <a:pt x="7966537" y="0"/>
                </a:lnTo>
                <a:cubicBezTo>
                  <a:pt x="8055711" y="0"/>
                  <a:pt x="8128000" y="72289"/>
                  <a:pt x="8128000" y="161463"/>
                </a:cubicBezTo>
                <a:lnTo>
                  <a:pt x="8128000" y="807296"/>
                </a:lnTo>
                <a:cubicBezTo>
                  <a:pt x="8128000" y="896470"/>
                  <a:pt x="8055711" y="968759"/>
                  <a:pt x="7966537" y="968759"/>
                </a:cubicBezTo>
                <a:lnTo>
                  <a:pt x="161463" y="968759"/>
                </a:lnTo>
                <a:cubicBezTo>
                  <a:pt x="72289" y="968759"/>
                  <a:pt x="0" y="896470"/>
                  <a:pt x="0" y="807296"/>
                </a:cubicBezTo>
                <a:lnTo>
                  <a:pt x="0" y="161463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7353344"/>
              <a:satOff val="-10228"/>
              <a:lumOff val="-3922"/>
              <a:alphaOff val="0"/>
            </a:schemeClr>
          </a:fillRef>
          <a:effectRef idx="0">
            <a:schemeClr val="accent5">
              <a:hueOff val="-7353344"/>
              <a:satOff val="-10228"/>
              <a:lumOff val="-392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5871" tIns="115871" rIns="115871" bIns="115871" numCol="1" spcCol="1270" anchor="ctr" anchorCtr="0">
            <a:noAutofit/>
          </a:bodyPr>
          <a:lstStyle/>
          <a:p>
            <a:pPr lvl="0" algn="just" defTabSz="800100" rtl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در نسخه‌های جدید، این معماری با </a:t>
            </a:r>
            <a:r>
              <a:rPr lang="fa-IR" sz="2000" b="1" kern="1200" dirty="0">
                <a:solidFill>
                  <a:srgbClr val="002060"/>
                </a:solidFill>
                <a:cs typeface="B Titr" panose="00000700000000000000" pitchFamily="2" charset="-78"/>
              </a:rPr>
              <a:t>قابلیت‌های ابری و همکاری هم‌زمان</a:t>
            </a:r>
            <a:r>
              <a:rPr lang="fa-IR" sz="2000" kern="1200" dirty="0">
                <a:solidFill>
                  <a:srgbClr val="002060"/>
                </a:solidFill>
                <a:cs typeface="B Titr" panose="00000700000000000000" pitchFamily="2" charset="-78"/>
              </a:rPr>
              <a:t> هم یکپارچه شده است.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" y="171500"/>
            <a:ext cx="11871960" cy="6564579"/>
          </a:xfrm>
          <a:prstGeom prst="roundRect">
            <a:avLst>
              <a:gd name="adj" fmla="val 9151"/>
            </a:avLst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72" y="2646259"/>
            <a:ext cx="3435457" cy="343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4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60020" y="171500"/>
            <a:ext cx="11871960" cy="6564579"/>
          </a:xfrm>
          <a:prstGeom prst="roundRect">
            <a:avLst>
              <a:gd name="adj" fmla="val 9151"/>
            </a:avLst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8CFE8BA-A74D-F7CE-0EAC-F93CCE4C98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904888"/>
              </p:ext>
            </p:extLst>
          </p:nvPr>
        </p:nvGraphicFramePr>
        <p:xfrm>
          <a:off x="1892662" y="1159579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1F2CD57-6082-1EDA-A8BE-344025132532}"/>
              </a:ext>
            </a:extLst>
          </p:cNvPr>
          <p:cNvSpPr txBox="1">
            <a:spLocks/>
          </p:cNvSpPr>
          <p:nvPr/>
        </p:nvSpPr>
        <p:spPr>
          <a:xfrm>
            <a:off x="2919794" y="373137"/>
            <a:ext cx="6073736" cy="7864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txBody>
          <a:bodyPr wrap="square" rtlCol="1">
            <a:noAutofit/>
          </a:bodyPr>
          <a:lstStyle/>
          <a:p>
            <a:pPr algn="ctr"/>
            <a:r>
              <a:rPr lang="fa-IR" sz="3600" dirty="0">
                <a:solidFill>
                  <a:srgbClr val="FF0000"/>
                </a:solidFill>
                <a:cs typeface="B Titr" panose="00000700000000000000" pitchFamily="2" charset="-78"/>
              </a:rPr>
              <a:t>مصرف           در طول زمان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97D11-11AD-B94D-A9D1-EBD0150AF7E8}"/>
              </a:ext>
            </a:extLst>
          </p:cNvPr>
          <p:cNvSpPr txBox="1"/>
          <p:nvPr/>
        </p:nvSpPr>
        <p:spPr>
          <a:xfrm>
            <a:off x="4819891" y="443193"/>
            <a:ext cx="34560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cs typeface="B Titr" panose="00000700000000000000" pitchFamily="2" charset="-78"/>
              </a:rPr>
              <a:t>CPU</a:t>
            </a:r>
            <a:endParaRPr lang="fa-IR" sz="3600" b="1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262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63509" y="746547"/>
            <a:ext cx="9644548" cy="5414483"/>
            <a:chOff x="-87715" y="996766"/>
            <a:chExt cx="9644548" cy="5414483"/>
          </a:xfrm>
        </p:grpSpPr>
        <p:sp>
          <p:nvSpPr>
            <p:cNvPr id="5" name="Freeform 4"/>
            <p:cNvSpPr/>
            <p:nvPr/>
          </p:nvSpPr>
          <p:spPr>
            <a:xfrm>
              <a:off x="6440686" y="4409019"/>
              <a:ext cx="296104" cy="129721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297219"/>
                  </a:lnTo>
                  <a:lnTo>
                    <a:pt x="296104" y="1297219"/>
                  </a:ln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sp>
        <p:sp>
          <p:nvSpPr>
            <p:cNvPr id="6" name="Freeform 5"/>
            <p:cNvSpPr/>
            <p:nvPr/>
          </p:nvSpPr>
          <p:spPr>
            <a:xfrm>
              <a:off x="6144581" y="4409019"/>
              <a:ext cx="296104" cy="129721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96104" y="0"/>
                  </a:moveTo>
                  <a:lnTo>
                    <a:pt x="296104" y="1297219"/>
                  </a:lnTo>
                  <a:lnTo>
                    <a:pt x="0" y="1297219"/>
                  </a:ln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sp>
        <p:sp>
          <p:nvSpPr>
            <p:cNvPr id="7" name="Freeform 6"/>
            <p:cNvSpPr/>
            <p:nvPr/>
          </p:nvSpPr>
          <p:spPr>
            <a:xfrm>
              <a:off x="3899375" y="2406788"/>
              <a:ext cx="1131288" cy="129721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297219"/>
                  </a:lnTo>
                  <a:lnTo>
                    <a:pt x="1131288" y="1297219"/>
                  </a:ln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sp>
        <p:sp>
          <p:nvSpPr>
            <p:cNvPr id="8" name="Freeform 7"/>
            <p:cNvSpPr/>
            <p:nvPr/>
          </p:nvSpPr>
          <p:spPr>
            <a:xfrm>
              <a:off x="2732329" y="2406788"/>
              <a:ext cx="1167046" cy="129721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167046" y="0"/>
                  </a:moveTo>
                  <a:lnTo>
                    <a:pt x="1167046" y="1297219"/>
                  </a:lnTo>
                  <a:lnTo>
                    <a:pt x="0" y="1297219"/>
                  </a:ln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sp>
        <p:sp>
          <p:nvSpPr>
            <p:cNvPr id="9" name="Rounded Rectangle 8"/>
            <p:cNvSpPr/>
            <p:nvPr/>
          </p:nvSpPr>
          <p:spPr>
            <a:xfrm>
              <a:off x="2489354" y="996766"/>
              <a:ext cx="2820043" cy="141002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a-IR" sz="2400" kern="1200" dirty="0">
                  <a:solidFill>
                    <a:sysClr val="windowText" lastClr="000000"/>
                  </a:solidFill>
                  <a:cs typeface="B Titr" panose="00000700000000000000" pitchFamily="2" charset="-78"/>
                </a:rPr>
                <a:t>مدیر پروژه</a:t>
              </a:r>
              <a:endParaRPr lang="en-US" sz="2400" kern="1200" dirty="0">
                <a:solidFill>
                  <a:sysClr val="windowText" lastClr="000000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-87715" y="2998997"/>
              <a:ext cx="2820043" cy="141002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ysClr val="windowText" lastClr="000000"/>
                  </a:solidFill>
                  <a:cs typeface="B Titr" panose="00000700000000000000" pitchFamily="2" charset="-78"/>
                </a:rPr>
                <a:t>UI/UX </a:t>
              </a:r>
              <a:r>
                <a:rPr lang="fa-IR" sz="2400" dirty="0">
                  <a:solidFill>
                    <a:sysClr val="windowText" lastClr="000000"/>
                  </a:solidFill>
                  <a:cs typeface="B Titr" panose="00000700000000000000" pitchFamily="2" charset="-78"/>
                </a:rPr>
                <a:t>طراح</a:t>
              </a:r>
              <a:endParaRPr lang="en-US" sz="2400" kern="1200" dirty="0">
                <a:solidFill>
                  <a:sysClr val="windowText" lastClr="000000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30664" y="2998997"/>
              <a:ext cx="2820043" cy="141002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a-IR" sz="2400" kern="1200" dirty="0">
                  <a:solidFill>
                    <a:sysClr val="windowText" lastClr="000000"/>
                  </a:solidFill>
                  <a:cs typeface="B Titr" panose="00000700000000000000" pitchFamily="2" charset="-78"/>
                </a:rPr>
                <a:t>توسعه دهنده اصلی</a:t>
              </a:r>
              <a:endParaRPr lang="en-US" sz="2400" kern="1200" dirty="0">
                <a:solidFill>
                  <a:sysClr val="windowText" lastClr="000000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324538" y="5001228"/>
              <a:ext cx="2820043" cy="141002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a-IR" sz="2400" kern="1200" dirty="0">
                  <a:solidFill>
                    <a:sysClr val="windowText" lastClr="000000"/>
                  </a:solidFill>
                  <a:cs typeface="B Titr" panose="00000700000000000000" pitchFamily="2" charset="-78"/>
                </a:rPr>
                <a:t>برنامه نویس بک اند</a:t>
              </a:r>
              <a:endParaRPr lang="en-US" sz="2400" kern="1200" dirty="0">
                <a:solidFill>
                  <a:sysClr val="windowText" lastClr="000000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736790" y="5001228"/>
              <a:ext cx="2820043" cy="141002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a-IR" sz="2400" kern="1200" dirty="0">
                  <a:solidFill>
                    <a:sysClr val="windowText" lastClr="000000"/>
                  </a:solidFill>
                  <a:cs typeface="B Titr" panose="00000700000000000000" pitchFamily="2" charset="-78"/>
                </a:rPr>
                <a:t>برنامه نویس فرانت اند</a:t>
              </a:r>
              <a:endParaRPr lang="en-US" sz="2400" kern="1200" dirty="0">
                <a:solidFill>
                  <a:sysClr val="windowText" lastClr="000000"/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60020" y="171500"/>
            <a:ext cx="11871960" cy="6564579"/>
          </a:xfrm>
          <a:prstGeom prst="roundRect">
            <a:avLst>
              <a:gd name="adj" fmla="val 9151"/>
            </a:avLst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85DF2-5B46-8E66-CA1C-CFE8F8177B50}"/>
              </a:ext>
            </a:extLst>
          </p:cNvPr>
          <p:cNvSpPr txBox="1">
            <a:spLocks/>
          </p:cNvSpPr>
          <p:nvPr/>
        </p:nvSpPr>
        <p:spPr>
          <a:xfrm>
            <a:off x="7847634" y="443169"/>
            <a:ext cx="3822039" cy="7864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txBody>
          <a:bodyPr wrap="square" rtlCol="1">
            <a:noAutofit/>
          </a:bodyPr>
          <a:lstStyle/>
          <a:p>
            <a:pPr algn="ctr"/>
            <a:r>
              <a:rPr lang="fa-IR" sz="3600" dirty="0">
                <a:solidFill>
                  <a:srgbClr val="002060"/>
                </a:solidFill>
                <a:cs typeface="B Titr" panose="00000700000000000000" pitchFamily="2" charset="-78"/>
              </a:rPr>
              <a:t>ساختار</a:t>
            </a:r>
            <a:r>
              <a:rPr lang="fa-IR" sz="3600" dirty="0">
                <a:solidFill>
                  <a:srgbClr val="C00000"/>
                </a:solidFill>
                <a:cs typeface="B Titr" panose="00000700000000000000" pitchFamily="2" charset="-78"/>
              </a:rPr>
              <a:t> تیم پروژه</a:t>
            </a:r>
          </a:p>
        </p:txBody>
      </p:sp>
    </p:spTree>
    <p:extLst>
      <p:ext uri="{BB962C8B-B14F-4D97-AF65-F5344CB8AC3E}">
        <p14:creationId xmlns:p14="http://schemas.microsoft.com/office/powerpoint/2010/main" val="111713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123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 Titr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arshia 13031</cp:lastModifiedBy>
  <cp:revision>7</cp:revision>
  <dcterms:created xsi:type="dcterms:W3CDTF">2026-05-07T16:43:46Z</dcterms:created>
  <dcterms:modified xsi:type="dcterms:W3CDTF">2026-05-07T18:23:08Z</dcterms:modified>
</cp:coreProperties>
</file>